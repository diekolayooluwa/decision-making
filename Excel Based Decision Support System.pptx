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8" y="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cision%20Mak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Decision%20Mak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Cost of Owning a Dog and Cat in The First Year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noFill/>
            <a:ln w="9525" cap="flat" cmpd="sng" algn="ctr">
              <a:solidFill>
                <a:schemeClr val="accent4"/>
              </a:solidFill>
              <a:miter lim="800000"/>
            </a:ln>
            <a:effectLst>
              <a:glow rad="63500">
                <a:schemeClr val="accent4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'Cat and Dog'!$B$18:$C$18</c:f>
              <c:strCache>
                <c:ptCount val="2"/>
                <c:pt idx="0">
                  <c:v>Cat</c:v>
                </c:pt>
                <c:pt idx="1">
                  <c:v>Dog</c:v>
                </c:pt>
              </c:strCache>
            </c:strRef>
          </c:cat>
          <c:val>
            <c:numRef>
              <c:f>'Cat and Dog'!$B$19:$C$19</c:f>
              <c:numCache>
                <c:formatCode>_("$"* #,##0.00_);_("$"* \(#,##0.00\);_("$"* "-"??_);_(@_)</c:formatCode>
                <c:ptCount val="2"/>
                <c:pt idx="0">
                  <c:v>559.5</c:v>
                </c:pt>
                <c:pt idx="1">
                  <c:v>644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1-45F1-8CCD-256320416E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143856848"/>
        <c:axId val="143844368"/>
      </c:barChart>
      <c:catAx>
        <c:axId val="14385684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44368"/>
        <c:crosses val="autoZero"/>
        <c:auto val="1"/>
        <c:lblAlgn val="ctr"/>
        <c:lblOffset val="100"/>
        <c:noMultiLvlLbl val="0"/>
      </c:catAx>
      <c:valAx>
        <c:axId val="14384436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Cost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56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Weighted</a:t>
            </a:r>
            <a:r>
              <a:rPr lang="en-US" baseline="0"/>
              <a:t> Decision Chart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'Cat and Dog'!$J$34:$K$34</c:f>
              <c:strCache>
                <c:ptCount val="2"/>
                <c:pt idx="0">
                  <c:v>Cat Weighted</c:v>
                </c:pt>
                <c:pt idx="1">
                  <c:v>Dog Weighted</c:v>
                </c:pt>
              </c:strCache>
            </c:strRef>
          </c:cat>
          <c:val>
            <c:numRef>
              <c:f>'Cat and Dog'!$J$35:$K$35</c:f>
              <c:numCache>
                <c:formatCode>General</c:formatCode>
                <c:ptCount val="2"/>
                <c:pt idx="0">
                  <c:v>7.5</c:v>
                </c:pt>
                <c:pt idx="1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FD-4061-9A22-50C82A36D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87286159"/>
        <c:axId val="1787280335"/>
      </c:barChart>
      <c:catAx>
        <c:axId val="1787286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7280335"/>
        <c:crosses val="autoZero"/>
        <c:auto val="1"/>
        <c:lblAlgn val="ctr"/>
        <c:lblOffset val="100"/>
        <c:noMultiLvlLbl val="0"/>
      </c:catAx>
      <c:valAx>
        <c:axId val="1787280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7286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Excel Based Decision Support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47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Dog or Cat?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026" y="1930400"/>
            <a:ext cx="7780869" cy="448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of owing a Dog and a Cat for the first year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0603942"/>
              </p:ext>
            </p:extLst>
          </p:nvPr>
        </p:nvGraphicFramePr>
        <p:xfrm>
          <a:off x="385011" y="2193634"/>
          <a:ext cx="3497177" cy="4378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7788">
                  <a:extLst>
                    <a:ext uri="{9D8B030D-6E8A-4147-A177-3AD203B41FA5}">
                      <a16:colId xmlns:a16="http://schemas.microsoft.com/office/drawing/2014/main" val="267791456"/>
                    </a:ext>
                  </a:extLst>
                </a:gridCol>
                <a:gridCol w="1456752">
                  <a:extLst>
                    <a:ext uri="{9D8B030D-6E8A-4147-A177-3AD203B41FA5}">
                      <a16:colId xmlns:a16="http://schemas.microsoft.com/office/drawing/2014/main" val="2695505973"/>
                    </a:ext>
                  </a:extLst>
                </a:gridCol>
                <a:gridCol w="822637">
                  <a:extLst>
                    <a:ext uri="{9D8B030D-6E8A-4147-A177-3AD203B41FA5}">
                      <a16:colId xmlns:a16="http://schemas.microsoft.com/office/drawing/2014/main" val="4200386953"/>
                    </a:ext>
                  </a:extLst>
                </a:gridCol>
              </a:tblGrid>
              <a:tr h="341412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6041021"/>
                  </a:ext>
                </a:extLst>
              </a:tr>
              <a:tr h="341412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Initial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218892"/>
                  </a:ext>
                </a:extLst>
              </a:tr>
              <a:tr h="34141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Purchase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                 90.00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  50.00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24178912"/>
                  </a:ext>
                </a:extLst>
              </a:tr>
              <a:tr h="34141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Collar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                 2.00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    2.50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17647574"/>
                  </a:ext>
                </a:extLst>
              </a:tr>
              <a:tr h="34141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ID tag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                 4.50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    5.50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32558583"/>
                  </a:ext>
                </a:extLst>
              </a:tr>
              <a:tr h="34141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Bowl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                 7.00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    7.00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56635573"/>
                  </a:ext>
                </a:extLst>
              </a:tr>
              <a:tr h="34141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Leash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                     -  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    3.00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2124699"/>
                  </a:ext>
                </a:extLst>
              </a:tr>
              <a:tr h="34141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Total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             103.50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  68.00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3787802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807846"/>
              </p:ext>
            </p:extLst>
          </p:nvPr>
        </p:nvGraphicFramePr>
        <p:xfrm>
          <a:off x="4042611" y="2193632"/>
          <a:ext cx="3384884" cy="4378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9060">
                  <a:extLst>
                    <a:ext uri="{9D8B030D-6E8A-4147-A177-3AD203B41FA5}">
                      <a16:colId xmlns:a16="http://schemas.microsoft.com/office/drawing/2014/main" val="4165846606"/>
                    </a:ext>
                  </a:extLst>
                </a:gridCol>
                <a:gridCol w="1542306">
                  <a:extLst>
                    <a:ext uri="{9D8B030D-6E8A-4147-A177-3AD203B41FA5}">
                      <a16:colId xmlns:a16="http://schemas.microsoft.com/office/drawing/2014/main" val="3449982262"/>
                    </a:ext>
                  </a:extLst>
                </a:gridCol>
                <a:gridCol w="873518">
                  <a:extLst>
                    <a:ext uri="{9D8B030D-6E8A-4147-A177-3AD203B41FA5}">
                      <a16:colId xmlns:a16="http://schemas.microsoft.com/office/drawing/2014/main" val="3693819804"/>
                    </a:ext>
                  </a:extLst>
                </a:gridCol>
              </a:tblGrid>
              <a:tr h="40177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Monthly</a:t>
                      </a:r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873845"/>
                  </a:ext>
                </a:extLst>
              </a:tr>
              <a:tr h="7953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Food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               11.00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21.00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0187838"/>
                  </a:ext>
                </a:extLst>
              </a:tr>
              <a:tr h="7953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Litter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                   8.00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         -  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63315811"/>
                  </a:ext>
                </a:extLst>
              </a:tr>
              <a:tr h="7953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Treats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                     -  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  3.00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61921782"/>
                  </a:ext>
                </a:extLst>
              </a:tr>
              <a:tr h="7953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Subtotal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               19.00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24.00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8205595"/>
                  </a:ext>
                </a:extLst>
              </a:tr>
              <a:tr h="7953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Total</a:t>
                      </a:r>
                      <a:endParaRPr lang="en-US" sz="20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 $                  38.00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  48.00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628607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81737"/>
              </p:ext>
            </p:extLst>
          </p:nvPr>
        </p:nvGraphicFramePr>
        <p:xfrm>
          <a:off x="7587917" y="2390274"/>
          <a:ext cx="3689684" cy="1347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5471">
                  <a:extLst>
                    <a:ext uri="{9D8B030D-6E8A-4147-A177-3AD203B41FA5}">
                      <a16:colId xmlns:a16="http://schemas.microsoft.com/office/drawing/2014/main" val="245743551"/>
                    </a:ext>
                  </a:extLst>
                </a:gridCol>
                <a:gridCol w="1081543">
                  <a:extLst>
                    <a:ext uri="{9D8B030D-6E8A-4147-A177-3AD203B41FA5}">
                      <a16:colId xmlns:a16="http://schemas.microsoft.com/office/drawing/2014/main" val="2844219571"/>
                    </a:ext>
                  </a:extLst>
                </a:gridCol>
                <a:gridCol w="1542670">
                  <a:extLst>
                    <a:ext uri="{9D8B030D-6E8A-4147-A177-3AD203B41FA5}">
                      <a16:colId xmlns:a16="http://schemas.microsoft.com/office/drawing/2014/main" val="1453995882"/>
                    </a:ext>
                  </a:extLst>
                </a:gridCol>
              </a:tblGrid>
              <a:tr h="36988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Dog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71367307"/>
                  </a:ext>
                </a:extLst>
              </a:tr>
              <a:tr h="97765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First Year's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</a:t>
                      </a:r>
                      <a:r>
                        <a:rPr lang="en-US" sz="2000" u="none" strike="noStrike" dirty="0" smtClean="0">
                          <a:effectLst/>
                        </a:rPr>
                        <a:t>559.50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 $ 644.00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83019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384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5" y="609601"/>
            <a:ext cx="3750286" cy="5431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</a:p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Dog has lower initial cost</a:t>
            </a:r>
          </a:p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 has lower monthly Expenses</a:t>
            </a:r>
          </a:p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 is cheaper overall in the first year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2706910"/>
              </p:ext>
            </p:extLst>
          </p:nvPr>
        </p:nvGraphicFramePr>
        <p:xfrm>
          <a:off x="4700713" y="609601"/>
          <a:ext cx="5550192" cy="5767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6832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DECESION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2471" y="1270000"/>
            <a:ext cx="6637866" cy="5406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scored higher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yearly cost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maintenance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affordable long-term </a:t>
            </a: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Dog scored higher in some areas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initial cost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 socially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62683"/>
              </p:ext>
            </p:extLst>
          </p:nvPr>
        </p:nvGraphicFramePr>
        <p:xfrm>
          <a:off x="677336" y="1270003"/>
          <a:ext cx="5005134" cy="54207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0478">
                  <a:extLst>
                    <a:ext uri="{9D8B030D-6E8A-4147-A177-3AD203B41FA5}">
                      <a16:colId xmlns:a16="http://schemas.microsoft.com/office/drawing/2014/main" val="1053184043"/>
                    </a:ext>
                  </a:extLst>
                </a:gridCol>
                <a:gridCol w="1327328">
                  <a:extLst>
                    <a:ext uri="{9D8B030D-6E8A-4147-A177-3AD203B41FA5}">
                      <a16:colId xmlns:a16="http://schemas.microsoft.com/office/drawing/2014/main" val="1337708082"/>
                    </a:ext>
                  </a:extLst>
                </a:gridCol>
                <a:gridCol w="1327328">
                  <a:extLst>
                    <a:ext uri="{9D8B030D-6E8A-4147-A177-3AD203B41FA5}">
                      <a16:colId xmlns:a16="http://schemas.microsoft.com/office/drawing/2014/main" val="4178634486"/>
                    </a:ext>
                  </a:extLst>
                </a:gridCol>
              </a:tblGrid>
              <a:tr h="73984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Criteria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Dog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28274"/>
                  </a:ext>
                </a:extLst>
              </a:tr>
              <a:tr h="73984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Cost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24892609"/>
                  </a:ext>
                </a:extLst>
              </a:tr>
              <a:tr h="73984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Cost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2619882"/>
                  </a:ext>
                </a:extLst>
              </a:tr>
              <a:tr h="73984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First-Year Cost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75449181"/>
                  </a:ext>
                </a:extLst>
              </a:tr>
              <a:tr h="73984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Maintenance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1041659"/>
                  </a:ext>
                </a:extLst>
              </a:tr>
              <a:tr h="73984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5711974"/>
                  </a:ext>
                </a:extLst>
              </a:tr>
              <a:tr h="73984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7004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355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08548"/>
            <a:ext cx="8596668" cy="802106"/>
          </a:xfrm>
        </p:spPr>
        <p:txBody>
          <a:bodyPr/>
          <a:lstStyle/>
          <a:p>
            <a:r>
              <a:rPr lang="en-US" dirty="0" smtClean="0"/>
              <a:t>Weighted Analysis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2140317"/>
              </p:ext>
            </p:extLst>
          </p:nvPr>
        </p:nvGraphicFramePr>
        <p:xfrm>
          <a:off x="368969" y="898356"/>
          <a:ext cx="7652084" cy="57443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3170">
                  <a:extLst>
                    <a:ext uri="{9D8B030D-6E8A-4147-A177-3AD203B41FA5}">
                      <a16:colId xmlns:a16="http://schemas.microsoft.com/office/drawing/2014/main" val="2915862077"/>
                    </a:ext>
                  </a:extLst>
                </a:gridCol>
                <a:gridCol w="1113030">
                  <a:extLst>
                    <a:ext uri="{9D8B030D-6E8A-4147-A177-3AD203B41FA5}">
                      <a16:colId xmlns:a16="http://schemas.microsoft.com/office/drawing/2014/main" val="174105570"/>
                    </a:ext>
                  </a:extLst>
                </a:gridCol>
                <a:gridCol w="1113030">
                  <a:extLst>
                    <a:ext uri="{9D8B030D-6E8A-4147-A177-3AD203B41FA5}">
                      <a16:colId xmlns:a16="http://schemas.microsoft.com/office/drawing/2014/main" val="695952661"/>
                    </a:ext>
                  </a:extLst>
                </a:gridCol>
                <a:gridCol w="1576794">
                  <a:extLst>
                    <a:ext uri="{9D8B030D-6E8A-4147-A177-3AD203B41FA5}">
                      <a16:colId xmlns:a16="http://schemas.microsoft.com/office/drawing/2014/main" val="1884810835"/>
                    </a:ext>
                  </a:extLst>
                </a:gridCol>
                <a:gridCol w="1113030">
                  <a:extLst>
                    <a:ext uri="{9D8B030D-6E8A-4147-A177-3AD203B41FA5}">
                      <a16:colId xmlns:a16="http://schemas.microsoft.com/office/drawing/2014/main" val="1852478871"/>
                    </a:ext>
                  </a:extLst>
                </a:gridCol>
                <a:gridCol w="1113030">
                  <a:extLst>
                    <a:ext uri="{9D8B030D-6E8A-4147-A177-3AD203B41FA5}">
                      <a16:colId xmlns:a16="http://schemas.microsoft.com/office/drawing/2014/main" val="2804571914"/>
                    </a:ext>
                  </a:extLst>
                </a:gridCol>
              </a:tblGrid>
              <a:tr h="1097990"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Citeria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 Weighted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Dog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Cat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82963043"/>
                  </a:ext>
                </a:extLst>
              </a:tr>
              <a:tr h="733680"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Cost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6783137"/>
                  </a:ext>
                </a:extLst>
              </a:tr>
              <a:tr h="831011"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Cost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47639032"/>
                  </a:ext>
                </a:extLst>
              </a:tr>
              <a:tr h="1097990"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First-Year Cost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7703414"/>
                  </a:ext>
                </a:extLst>
              </a:tr>
              <a:tr h="831011"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Maintenance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71452356"/>
                  </a:ext>
                </a:extLst>
              </a:tr>
              <a:tr h="733680"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20144389"/>
                  </a:ext>
                </a:extLst>
              </a:tr>
              <a:tr h="418939"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3346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812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Analysis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5579" y="2566737"/>
            <a:ext cx="4347411" cy="1989221"/>
          </a:xfrm>
        </p:spPr>
        <p:txBody>
          <a:bodyPr>
            <a:no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weighted decision analysis, the cat option performs better overall because long-term affordability and maintenance were prioritized more heavily than initial purchase cost.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4512967"/>
              </p:ext>
            </p:extLst>
          </p:nvPr>
        </p:nvGraphicFramePr>
        <p:xfrm>
          <a:off x="858252" y="1511967"/>
          <a:ext cx="4948989" cy="4808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51897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</TotalTime>
  <Words>280</Words>
  <Application>Microsoft Office PowerPoint</Application>
  <PresentationFormat>Widescreen</PresentationFormat>
  <Paragraphs>124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 New Roman</vt:lpstr>
      <vt:lpstr>Trebuchet MS</vt:lpstr>
      <vt:lpstr>Wingdings 3</vt:lpstr>
      <vt:lpstr>Facet</vt:lpstr>
      <vt:lpstr>Excel Based Decision Support System</vt:lpstr>
      <vt:lpstr>Dog or Cat?</vt:lpstr>
      <vt:lpstr>Analysis of owing a Dog and a Cat for the first year</vt:lpstr>
      <vt:lpstr>PowerPoint Presentation</vt:lpstr>
      <vt:lpstr>DECESION MATRIX</vt:lpstr>
      <vt:lpstr>Weighted Analysis</vt:lpstr>
      <vt:lpstr>Weighted Analysis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Based Decision Support System</dc:title>
  <dc:creator>ADEKUSIBE DIEKOLAYOOLUWA A.</dc:creator>
  <cp:lastModifiedBy>ADEKUSIBE DIEKOLAYOOLUWA A.</cp:lastModifiedBy>
  <cp:revision>4</cp:revision>
  <dcterms:created xsi:type="dcterms:W3CDTF">2026-05-12T10:25:43Z</dcterms:created>
  <dcterms:modified xsi:type="dcterms:W3CDTF">2026-05-12T11:06:40Z</dcterms:modified>
</cp:coreProperties>
</file>